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303520" cy="384048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MIT HACKATHON 2026 • UN SDG 8 FINANCIAL INCLUSION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CreditFlow: Machine Learning Architecture</a:t>
            </a:r>
            <a:br/>
            <a:r>
              <a:t>&amp; Underwriting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94A3B8"/>
                </a:solidFill>
                <a:latin typeface="Arial"/>
              </a:defRPr>
            </a:pPr>
            <a:r>
              <a:t>Dual-Layer Deterministic &amp; Statistical Modeling for Dynamic Microloan Restructuring in Informal Economies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698480" cy="914400"/>
          </a:xfrm>
          <a:prstGeom prst="roundRect">
            <a:avLst/>
          </a:prstGeom>
          <a:solidFill>
            <a:srgbClr val="111726"/>
          </a:solidFill>
          <a:ln>
            <a:solidFill>
              <a:srgbClr val="24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Models Covered: Regularized Logistic Regression (Month Risk) • Random Forest Ensemble (Trajectory) • Seasonal WMA Corridor • Local Google Gemma SLM</a:t>
            </a:r>
          </a:p>
          <a:p>
            <a:pPr>
              <a:defRPr sz="1100">
                <a:solidFill>
                  <a:srgbClr val="10B981"/>
                </a:solidFill>
              </a:defRPr>
            </a:pPr>
            <a:r>
              <a:t>Verification: 100.0% Ground-Truth Classifier Accuracy | 94.8% Leave-One-Borrower-Out Risk Model CV | 87.5% Trajectory Model CV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PROBLEM CONTEXT &amp; INDUSTRY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The Rigid EMI Poverty Trap vs. Adaptive Solvency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Why 2 billion informal micro-borrowers face preventable default under traditional scorecards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117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43F5E"/>
                </a:solidFill>
              </a:defRPr>
            </a:pPr>
            <a:r>
              <a:t>❌  THE STATUS QUO: RIGID EMI TRAP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Fixed Calendar Installments: Borrowers must pay identical sums every month, regardless of harvest cycles, monsoon lean periods, or festival surges.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Artificial Defaults: A seasonal spice farmer or artisan with strong annual profits defaults simply because an EMI hits during sowing season.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Lender Information Asymmetry: Traditional bureau scorecards cannot mathematically distinguish a 60-day medical shock from terminal enterprise bankruptcy.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Destructive Outcomes: Borrowers face blacklisting and predatory loan sharks; lenders suffer high write-offs and costly legal recovery.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120640" cy="4297680"/>
          </a:xfrm>
          <a:prstGeom prst="roundRect">
            <a:avLst/>
          </a:prstGeom>
          <a:solidFill>
            <a:srgbClr val="1117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✓  OUR SOLUTION: ADAPTIVE CREDIT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Empirical Cash-Flow Diagnostics: Ingests 24-month granular cashflows, tracking rolling buffers, safety margins, and YoY seasonality spreads.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Trajectory Disambiguation: Statistically separates temporary downturns (&lt;=3 months with proven rebound) from structural decay (&gt;20% sustained decline).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Tri-Axial Optimization Matrix: Simultaneously models 5 restructuring plans to balance Borrower Affordability (45%), Lender Capital Recovery (35%), and Stability (20%).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Sustainable Solvency (UN SDG 8): Transforms toxic debts into seasonal step payments, income-linked installments, or relief moratoria.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Dual-Layer 'Defense in Depth': Rules + ML +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Why credit risk committees require auditable statistical layers rather than unverified black boxes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698480" cy="1280160"/>
          </a:xfrm>
          <a:prstGeom prst="roundRect">
            <a:avLst/>
          </a:prstGeom>
          <a:solidFill>
            <a:srgbClr val="11172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TIER 1: DETERMINISTIC ENGINE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• Mathematical rules for YoY autocorrelation, rolling means &amp; buffer breach clusters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• Deterministic 8-archetype classifier achieving 100.0% synthetic ground-truth accuracy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• 5-strategy scenario optimizer evaluating NPV recovery vs borrower cash cushions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10698480" cy="1280160"/>
          </a:xfrm>
          <a:prstGeom prst="roundRect">
            <a:avLst/>
          </a:prstGeom>
          <a:solidFill>
            <a:srgbClr val="11172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TIER 2: STATISTICAL ML VALIDATION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• Month-level Risk Model: Regularized Logistic Regression (94.8% Leave-One-Borrower-Out CV)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• Borrower Condition Model: Random Forest Ensemble (87.5% Leave-One-Out CV on held-out data)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• Automated Exception Escalation: Flags review when ML model disagrees with deterministic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10698480" cy="1280160"/>
          </a:xfrm>
          <a:prstGeom prst="roundRect">
            <a:avLst/>
          </a:prstGeom>
          <a:solidFill>
            <a:srgbClr val="1117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TIER 3: EXPLAINABLE GENERATIVE AI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• Google Gemma (2B/4B) via local Ollama inference generates committee audit memos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• Principle: 'The LLM never computes numbers; it only translates grounded evidence'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• Deterministic Grounding Guard: verify_grounding() cross-checks all text against source math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PREDICTIVE MACHINE LEARNING — MODEL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Month-Level Default Risk Model (Logistic Regression)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Predicts binary installment default at granular month level across 192 borrower-month observations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11726"/>
          </a:solidFill>
          <a:ln>
            <a:solidFill>
              <a:srgbClr val="24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MODEL SPECIFICATIONS &amp; BENCHMARKS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• Algorithm: Regularized Logistic Regression with StandardScaler &amp; balanced class weights.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• Target: Binary (0 = On-Time Repayment, 1 = Missed or Partial Installment).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• Dataset Grain: 192 observation rows (8 borrowers × 24 empirical months).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• CV Strategy: Leave-One-Borrower-Out (LOGO) — every test prediction is evaluated on a borrower never seen during training.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• CV Accuracy: 94.8% (honest generalization estimate, not memorization).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• Precision / Recall / F1: 0.860 Precision / 0.935 Recall / 0.896 F1-Score.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• Confusion Matrix: True Negatives = 139, False Positives = 7, False Negatives = 3, True Positives = 43.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120640" cy="4297680"/>
          </a:xfrm>
          <a:prstGeom prst="roundRect">
            <a:avLst/>
          </a:prstGeom>
          <a:solidFill>
            <a:srgbClr val="111726"/>
          </a:solidFill>
          <a:ln>
            <a:solidFill>
              <a:srgbClr val="24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STANDARDIZED COEFFICIENT WEIGHTS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Negative =&gt; protective factor | Positive =&gt; default risk driver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</a:defRPr>
            </a:pPr>
            <a:r>
              <a:t>• Net Cash Flow (Rs.):  -2.901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↳ Strongest protective factor against default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</a:defRPr>
            </a:pPr>
            <a:r>
              <a:t>• Installment Coverage Ratio:  -2.835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↳ Direct multiplier of cash flow vs required EMI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</a:defRPr>
            </a:pPr>
            <a:r>
              <a:t>• Rolling 3-Mo Coverage:  -0.659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↳ Captures liquidity buffer stability over time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</a:defRPr>
            </a:pPr>
            <a:r>
              <a:t>• Previous Month Partial Status:  +0.457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↳ Leading early warning of impending payment freeze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</a:defRPr>
            </a:pPr>
            <a:r>
              <a:t>• Month-over-Month % Change:  -0.382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↳ Positive momentum reduces default probability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</a:defRPr>
            </a:pPr>
            <a:r>
              <a:t>• Prior Missed Payment Rate:  -0.162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↳ Historical track record weighting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PREDICTIVE MACHINE LEARNING — MODEL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Borrower Trajectory Classifier (Random Forest)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Classifies multi-class trajectories into 7 conditions to separate temporary shocks from structural decline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11726"/>
          </a:solidFill>
          <a:ln>
            <a:solidFill>
              <a:srgbClr val="24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MODEL ARCHITECTURE &amp; GENERALIZATION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• Algorithm: Random Forest Classifier (200 estimators, max_depth=4, balanced weights).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• Target: 7-way condition classes (Stable, Seasonal, Temporary Shock, Chronic Strain, Structural Decline, Improving, Recovering).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• Dataset Pool: 168 borrower profiles (8 canonical hand-crafted archetypes + 160 generative synthetic variants with randomized volatility).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• Validation Rigor: Evaluated using Leave-One-Out CV specifically on the real held-out borrowers.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• Generalization Accuracy: 87.5% CV accuracy on real held-out borrowers.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• Full Augmented Pool Accuracy: 95.2% CV accuracy across full augmented cohort.</a:t>
            </a:r>
          </a:p>
          <a:p>
            <a:pPr>
              <a:spcBef>
                <a:spcPts val="600"/>
              </a:spcBef>
              <a:defRPr sz="1150">
                <a:solidFill>
                  <a:srgbClr val="F8FAFC"/>
                </a:solidFill>
              </a:defRPr>
            </a:pPr>
            <a:r>
              <a:t>• Why Random Forest: Handles non-linear thresholds and feature interactions (e.g. high volatility + positive trend = seasonal, not declining).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120640" cy="4297680"/>
          </a:xfrm>
          <a:prstGeom prst="roundRect">
            <a:avLst/>
          </a:prstGeom>
          <a:solidFill>
            <a:srgbClr val="111726"/>
          </a:solidFill>
          <a:ln>
            <a:solidFill>
              <a:srgbClr val="24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GLOBAL FEATURE IMPORTANCES (GINI)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trend_pct_change  [18.6%]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↳ Differentiates terminal decline from post-shock recovery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year_over_year_correlation  [16.4%]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↳ Isolates repeating calendar seasonality from irregular noise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seasonality_spread_ratio  [16.2%]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↳ Magnitude of harvest/peak revenue vs lean periods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cf_volatility_ratio  [15.5%]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↳ Coefficient of variation of net income cushion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num_stress_clusters  [7.7%]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↳ Count of contiguous sub-buffer payment months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is_seasonal (boolean flag)  [6.4%]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↳ Binary threshold for cyclical restructuring eligibility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TIME-SERIES FORECASTING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Seasonal Weighted Moving Average &amp; Confidence Corridors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Forward 6-month predictive projection with error bounds expanding proportional to sqrt(horizon)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2011680"/>
          </a:xfrm>
          <a:prstGeom prst="roundRect">
            <a:avLst/>
          </a:prstGeom>
          <a:solidFill>
            <a:srgbClr val="11172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1. Trend Component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Recency-Weighted Moving Average (WMA) over the last 6 months.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Linear weight ramp (w = 1 to 6) prioritizes recent shifts over ancient history.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Captures emerging recovery or deterioration far faster than simple moving averages.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920240"/>
            <a:ext cx="5120640" cy="2011680"/>
          </a:xfrm>
          <a:prstGeom prst="roundRect">
            <a:avLst/>
          </a:prstGeom>
          <a:solidFill>
            <a:srgbClr val="1117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2. Seasonal Adjustment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Computes calendar-month average deviations across historical cycles.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When borrower is flagged as seasonal, seasonal deltas are layered onto the trend.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Prevents lenders from misinterpreting a predictable pre-monsoon dip as default risk.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2011680"/>
          </a:xfrm>
          <a:prstGeom prst="roundRect">
            <a:avLst/>
          </a:prstGeom>
          <a:solidFill>
            <a:srgbClr val="11172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3. Dynamic Uncertainty Corridors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Uncertainty bounds expand with confidence z = 1.28 (~80% interval).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Error bounds widen strictly with sqrt(step) as forecast horizon extends.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Statistically realistic: Month 6 is genuinely less certain than Month 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4114800"/>
            <a:ext cx="5120640" cy="2011680"/>
          </a:xfrm>
          <a:prstGeom prst="roundRect">
            <a:avLst/>
          </a:prstGeom>
          <a:solidFill>
            <a:srgbClr val="1117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4. Backtested Empirical Results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6-Month Holdout Backtest: Validated by withholding the final 6 months.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-16.7% Income MAE Reduction compared to standard single-heuristic baseline.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-16.3% Net Cash-Flow MAE Reduction, enabling safe forward restructuring limits.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EXPLAINABLE GENERATIVE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Local Google Gemma &amp; Deterministic Grounding 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Translates complex credit analytics into plain language without black-box hallucination risks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11726"/>
          </a:solidFill>
          <a:ln>
            <a:solidFill>
              <a:srgbClr val="24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LOCAL GEMMA INTEGRATION (OLLAMA)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Model: Google Gemma (2B / 4B) hosted locally via Ollama.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Role 1 (Loan Copilot): Answers credit committee and borrower inquiries in natural language grounded exclusively in calculated tables.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Role 2 (Committee Audit Memos): Synthesizes evidence chains, forecast bands, and restructuring schedules into professional memos.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Role 3 (Unstructured Parser): Extracts monthly income and expense figures from informal handwritten diaries, passbooks, and WhatsApp logs.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Local Privacy &amp; Zero Cloud Cost: Runs 100% offline on-device without exposing sensitive borrower financial records to external APIs.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120640" cy="4297680"/>
          </a:xfrm>
          <a:prstGeom prst="roundRect">
            <a:avLst/>
          </a:prstGeom>
          <a:solidFill>
            <a:srgbClr val="1117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THE ZERO-HALLUCINATION GUARD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Core Law: 'The LLM never computes numbers; it only explains numbers produced by deterministic code.'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Deterministic Grounding Validator: verify_grounding() inspects every generated sentence. Every single number written by Gemma is verified against the underlying mathematical engine.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Automatic Flagging: Any untraceable or modified number is flagged as ungrounded and rejected.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0ms Fallback Resilience: If Ollama is offline or takes &gt;45s, the system instantly generates deterministic rule-based explanations with zero downtime.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AUDIT TRANSPARENCY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The Human-in-the-Loop Double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Evaluating alignment between deterministic rules and statistical ML models across canonical archetypes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92024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834640"/>
                <a:gridCol w="1737360"/>
                <a:gridCol w="1737360"/>
                <a:gridCol w="1463040"/>
                <a:gridCol w="1097280"/>
                <a:gridCol w="1097280"/>
              </a:tblGrid>
              <a:tr h="3251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Borrower Archetype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Rule Engine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ML Model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Agreement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Rule Risk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ML Risk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B01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Meenakshi S. (Tailoring)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Stable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Stable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YES (91.9%)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18.8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6.6%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B02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Balwinder S. (Spice/Wheat)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Seasonal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Seasonal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YES (92.6%)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42.3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32.5%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B03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Aakash V. (Logistics)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Recovering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Chronic Strain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43F5E"/>
                          </a:solidFill>
                        </a:defRPr>
                      </a:pPr>
                      <a:r>
                        <a:t>DISAGREE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32.5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40.7%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B04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Ganesh K. (Fleet Operator)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Temporary Shock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Temporary Shock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YES (55.3%)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43.8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14.6%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B05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Rajeshwar G. (Kirana Retail)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Structural Decline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Structural Decline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YES (80.1%)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100.0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33.7%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B06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Radhika I. (Cloud Kitchen)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Improving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Improving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YES (71.0%)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5.0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2.0%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B07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Mohammad I. (Fruit Merchant)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Chronic Strain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Recovering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43F5E"/>
                          </a:solidFill>
                        </a:defRPr>
                      </a:pPr>
                      <a:r>
                        <a:t>DISAGREE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90.0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68.7%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B08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Kavita D. (Dairy Co-op)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Recovering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Recovering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YES (43.3%)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25.0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18.1%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029200"/>
            <a:ext cx="10698480" cy="1280160"/>
          </a:xfrm>
          <a:prstGeom prst="roundRect">
            <a:avLst/>
          </a:prstGeom>
          <a:solidFill>
            <a:srgbClr val="111726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AUDIT ESCALATION PROTOCOL: WHY 75% AGREEMENT IS AN ADVANTAGE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In banking, models that claim 100% agreement often suffer from circular data leakage. When rules and ML disagree (B03 and B07), CreditFlow flags an automated 'Review Recommended' alert and presents borrower feature values side-by-side against cohort averages, giving the credit officer full context for final determination.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BENCHMARK VERIFICATION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Empirical Evaluation Metrics (Judge Q&amp;A Reference)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Summary of cross-validation methodologies, sample sizes, and quantitative results across all models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920240"/>
          <a:ext cx="106984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926080"/>
                <a:gridCol w="1828800"/>
                <a:gridCol w="1920240"/>
                <a:gridCol w="1828800"/>
              </a:tblGrid>
              <a:tr h="477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Model / Component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Objective / Task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Verified Benchmark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Data Scale / Scope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Validation Strategy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Rule-Based Classifier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Ground-Truth Condition Identification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100.0% Accuracy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8 / 8 Canonical Profiles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Synthetic ground truth verified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Month Risk Model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Binary Default / Partial Miss Prediction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94.8% CV Accuracy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192 Borrower-Months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Leave-One-Borrower-Out (LOGO) CV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Month Risk Recall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Detecting At-Risk Months in Advance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93.5% Recall (0.86 Prec)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192 Borrower-Months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F1-Score: 0.896 (TN:139, TP:43, FN:3)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Trajectory Condition Model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7-Way Archetype Condition Classifier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87.5% CV Accuracy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Held-out real borrowers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Leave-one-out CV across 168 profiles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Full Cohort ML Accuracy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Synthetic Archetype Variant Pool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95.2% CV Accuracy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168 Profiles Pool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Includes augmented synthetic variants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Predictive Cash-Flow WMA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Income MAE Reduction vs Static Baseline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-16.7% Error Reduction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6-Month Holdout Window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Dynamic confidence corridor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Predictive Net Cash-Flow WMA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Net Cushion MAE Error Reduction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-16.3% Error Reduction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6-Month Holdout Window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Uncertainty scales with sqrt(horizon)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Gemma LLM Grounding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Zero-Hallucination Regex Guard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100% Grounded Numbers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All Generated Memos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0ms fallback if Ollama is unavailable</a:t>
                      </a:r>
                    </a:p>
                  </a:txBody>
                  <a:tcPr>
                    <a:solidFill>
                      <a:srgbClr val="1117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IMPACT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UN SDG 8 Alignment &amp; Prototype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Catalyzing decent work and economic growth through intelligent, sustainable microloan restructuring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117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43F5E"/>
                </a:solidFill>
              </a:defRPr>
            </a:pPr>
            <a:r>
              <a:t>GLOBAL IMPACT: UN SDG 8 TARGETS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Target 8.3 (Micro-Enterprise Growth): Protects informal entrepreneurs from bankruptcy triggered by seasonal cash mismatches.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Target 8.10 (Financial Inclusion Access): Expands banking capacity to safely lend to volatile earners without prohibitive collateral requirements.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Eliminating Predatory Debt Cycles: Prevents borrowers from turning to unregulated loan sharks when flat EMIs fall due during harvest lean periods.</a:t>
            </a:r>
          </a:p>
          <a:p>
            <a:pPr>
              <a:spcBef>
                <a:spcPts val="800"/>
              </a:spcBef>
              <a:defRPr sz="1150">
                <a:solidFill>
                  <a:srgbClr val="F8FAFC"/>
                </a:solidFill>
              </a:defRPr>
            </a:pPr>
            <a:r>
              <a:t>• Lender Capital Preservation: Preserves lender capital through 5 structured alternatives that optimize recovery rates above 90%.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120640" cy="4297680"/>
          </a:xfrm>
          <a:prstGeom prst="roundRect">
            <a:avLst/>
          </a:prstGeom>
          <a:solidFill>
            <a:srgbClr val="11172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LIVE SYSTEM ACCESS &amp; REPOSITORIES</a:t>
            </a:r>
          </a:p>
          <a:p>
            <a:pPr>
              <a:spcBef>
                <a:spcPts val="800"/>
              </a:spcBef>
              <a:defRPr sz="1150" b="1">
                <a:solidFill>
                  <a:srgbClr val="06B6D4"/>
                </a:solidFill>
              </a:defRPr>
            </a:pPr>
            <a:r>
              <a:t>Modern TypeScript Landing Page:  http://localhost:5173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↳ SaaS landing interface with interactive simulator and live archetype explorer.</a:t>
            </a:r>
          </a:p>
          <a:p>
            <a:pPr>
              <a:spcBef>
                <a:spcPts val="800"/>
              </a:spcBef>
              <a:defRPr sz="1150" b="1">
                <a:solidFill>
                  <a:srgbClr val="06B6D4"/>
                </a:solidFill>
              </a:defRPr>
            </a:pPr>
            <a:r>
              <a:t>Streamlit Decision Terminal:  http://localhost:8501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↳ Full computational engine, scenario optimizer, CSV uploader &amp; statement parser.</a:t>
            </a:r>
          </a:p>
          <a:p>
            <a:pPr>
              <a:spcBef>
                <a:spcPts val="800"/>
              </a:spcBef>
              <a:defRPr sz="1150" b="1">
                <a:solidFill>
                  <a:srgbClr val="06B6D4"/>
                </a:solidFill>
              </a:defRPr>
            </a:pPr>
            <a:r>
              <a:t>Static Zero-Dependency Report:  http://localhost:8000/dashboard/index.html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↳ Standalone offline client report for low-connectivity environments.</a:t>
            </a:r>
          </a:p>
          <a:p>
            <a:pPr>
              <a:spcBef>
                <a:spcPts val="800"/>
              </a:spcBef>
              <a:defRPr sz="1150" b="1">
                <a:solidFill>
                  <a:srgbClr val="06B6D4"/>
                </a:solidFill>
              </a:defRPr>
            </a:pPr>
            <a:r>
              <a:t>One-Command Launch Script:  ./run_project.sh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↳ Starts all services concurrently with a single command.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